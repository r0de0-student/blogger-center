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6"/>
  </p:notesMasterIdLst>
  <p:handoutMasterIdLst>
    <p:handoutMasterId r:id="rId27"/>
  </p:handoutMasterIdLst>
  <p:sldIdLst>
    <p:sldId id="312" r:id="rId5"/>
    <p:sldId id="304" r:id="rId6"/>
    <p:sldId id="307" r:id="rId7"/>
    <p:sldId id="324" r:id="rId8"/>
    <p:sldId id="281" r:id="rId9"/>
    <p:sldId id="325" r:id="rId10"/>
    <p:sldId id="282" r:id="rId11"/>
    <p:sldId id="326" r:id="rId12"/>
    <p:sldId id="314" r:id="rId13"/>
    <p:sldId id="327" r:id="rId14"/>
    <p:sldId id="328" r:id="rId15"/>
    <p:sldId id="315" r:id="rId16"/>
    <p:sldId id="329" r:id="rId17"/>
    <p:sldId id="330" r:id="rId18"/>
    <p:sldId id="331" r:id="rId19"/>
    <p:sldId id="317" r:id="rId20"/>
    <p:sldId id="332" r:id="rId21"/>
    <p:sldId id="318" r:id="rId22"/>
    <p:sldId id="319" r:id="rId23"/>
    <p:sldId id="321" r:id="rId24"/>
    <p:sldId id="333" r:id="rId25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2" autoAdjust="0"/>
    <p:restoredTop sz="95388" autoAdjust="0"/>
  </p:normalViewPr>
  <p:slideViewPr>
    <p:cSldViewPr snapToGrid="0" snapToObjects="1">
      <p:cViewPr>
        <p:scale>
          <a:sx n="66" d="100"/>
          <a:sy n="66" d="100"/>
        </p:scale>
        <p:origin x="1710" y="10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86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5B2890-730E-452F-990D-C91BC4CE7C27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72DF-574C-298E-E38A-3C215E1E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8B31EE0-691A-E6B7-3DB0-7DE7EF797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A1CB42F-95F4-F32A-4529-3B61DB6A0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2978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5CCC8-31B6-CBE7-5D1F-46F18804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FF0930E-EB2F-D1CE-21FC-0FA267A9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3E9006-F64E-8964-A74D-8A937A18F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181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4972-7E75-802A-92B4-3D0F3F4F4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C2D0CEE-0BD8-8B7E-220C-81060DCD6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B9F32ED-8C0E-86B6-3349-A04E13FB5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5222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6DBA-4C84-745F-D983-8465D1F7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CADB0E3-3224-6CD8-D2A6-0E87519FE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6725C34-27FC-AB7E-DAAF-193A96BE6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3601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2380-037B-2A13-6CFA-2404D1CE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33850C7-E1BC-DDF1-E0A7-7F7F2B6FD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89BB72-9339-BCA0-CB32-A014AD92A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4837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FC45-1B0B-7300-6019-9882ABCA8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8DAD72D-97B1-2A13-BAF1-0272EF6CA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65F4759-8638-9F28-0EAC-C5A4443D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906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6AE2-BFFD-74D8-EE14-67B44EF79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26741FA-E474-0039-8B67-BFE8EBF2C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3A34863-0B04-B62D-CF1A-76FCBECA7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8574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CF47-1B56-208D-E876-8E7A859B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FE7959-F762-C64B-FECD-F78E11449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BE5469-226F-EE26-2D0B-7D8121781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7119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28B6-290A-B8BF-2E58-B3F8B19E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87ADC8-3B7A-4FD2-EE5D-0EA796316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4F548BD-2404-4ACB-15BE-8CCFA6748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28637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B3705-82F0-CCCA-DDAB-0E21585E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6B88197-1521-E29A-39DE-3A19BA221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9C12E08-BE78-EB35-1E03-0D671AAB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6533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sz="450" noProof="0" dirty="0">
              <a:latin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600" noProof="0" dirty="0">
              <a:latin typeface="Times New Roman" panose="02020603050405020304" pitchFamily="18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 rtl="0"/>
            <a:r>
              <a:rPr lang="ru-RU" noProof="0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sz="450" noProof="0" dirty="0">
              <a:latin typeface="Times New Roman" panose="020206030504050203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600" noProof="0" dirty="0">
              <a:latin typeface="Times New Roman" panose="02020603050405020304" pitchFamily="18" charset="0"/>
            </a:endParaRPr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 rtl="0"/>
            <a:r>
              <a:rPr lang="ru-RU" noProof="0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sz="450" noProof="0" dirty="0">
              <a:latin typeface="Times New Roman" panose="020206030504050203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600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sz="1800"/>
            </a:lvl1pPr>
          </a:lstStyle>
          <a:p>
            <a:pPr lvl="0" rtl="0"/>
            <a:r>
              <a:rPr lang="ru-RU" noProof="0" dirty="0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pPr rtl="0"/>
            <a:endParaRPr lang="ru-RU" noProof="0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rtl="0"/>
            <a:endParaRPr lang="ru-RU" noProof="0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pPr rtl="0"/>
            <a:r>
              <a:rPr lang="ru-RU" noProof="0" dirty="0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sz="450" noProof="0" dirty="0">
              <a:latin typeface="Times New Roman" panose="020206030504050203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600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/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dirty="0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0de0-student/BloGGer-Cent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0de0-student/BloGGer-CenteR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6717" y="220719"/>
            <a:ext cx="7031421" cy="2601310"/>
          </a:xfrm>
        </p:spPr>
        <p:txBody>
          <a:bodyPr rtlCol="0" anchor="ctr"/>
          <a:lstStyle/>
          <a:p>
            <a:r>
              <a:rPr lang="en-US" sz="7200" dirty="0">
                <a:latin typeface="Bahnschrift Light" panose="020B0502040204020203" pitchFamily="34" charset="0"/>
              </a:rPr>
              <a:t>Blogger-center</a:t>
            </a:r>
            <a:br>
              <a:rPr lang="en-US" sz="7200" dirty="0">
                <a:latin typeface="Bahnschrift Light" panose="020B0502040204020203" pitchFamily="34" charset="0"/>
              </a:rPr>
            </a:br>
            <a:r>
              <a:rPr lang="ru-RU" sz="1800" b="0" dirty="0"/>
              <a:t>Платформа для ведения тематических блогов</a:t>
            </a:r>
            <a:endParaRPr lang="ru" sz="1800" dirty="0"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2CB62-3DBF-5A79-7C2F-9072DC45CACC}"/>
              </a:ext>
            </a:extLst>
          </p:cNvPr>
          <p:cNvSpPr txBox="1"/>
          <p:nvPr/>
        </p:nvSpPr>
        <p:spPr>
          <a:xfrm>
            <a:off x="4508938" y="3271051"/>
            <a:ext cx="40186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ahnschrift Light" panose="020B0502040204020203" pitchFamily="34" charset="0"/>
              </a:rPr>
              <a:t>Модуль 3: Отчёты, экспорт данных и администрирование</a:t>
            </a:r>
            <a:endParaRPr lang="ru-RU" sz="2800" dirty="0">
              <a:latin typeface="Bahnschrift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295B3-1544-4B58-DA6C-A5402DE79AE3}"/>
              </a:ext>
            </a:extLst>
          </p:cNvPr>
          <p:cNvSpPr txBox="1"/>
          <p:nvPr/>
        </p:nvSpPr>
        <p:spPr>
          <a:xfrm>
            <a:off x="362606" y="5105068"/>
            <a:ext cx="112070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Выполнил: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Гармонов Родион Андреевич ПИб-242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Ссылка на репозиторий:</a:t>
            </a:r>
          </a:p>
          <a:p>
            <a:r>
              <a:rPr lang="ru-RU" sz="24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r0de0-student/</a:t>
            </a:r>
            <a:r>
              <a:rPr lang="ru-RU" sz="2400" dirty="0" err="1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BloGGer-CenteR</a:t>
            </a:r>
            <a:r>
              <a:rPr lang="ru-RU" sz="24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Веб-приложение для блогов, статей</a:t>
            </a:r>
            <a:endParaRPr lang="ru-RU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80" y="692943"/>
            <a:ext cx="7023100" cy="835026"/>
          </a:xfrm>
        </p:spPr>
        <p:txBody>
          <a:bodyPr rtlCol="0" anchor="ctr"/>
          <a:lstStyle/>
          <a:p>
            <a:r>
              <a:rPr lang="ru-RU" sz="4400" dirty="0">
                <a:latin typeface="Bahnschrift SemiBold SemiConden" panose="020B0502040204020203" pitchFamily="34" charset="0"/>
              </a:rPr>
              <a:t>Пользователи и роли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1A5D2039-DA16-2AF8-06F9-93DD41B72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7516234"/>
              </p:ext>
            </p:extLst>
          </p:nvPr>
        </p:nvGraphicFramePr>
        <p:xfrm>
          <a:off x="525780" y="1963737"/>
          <a:ext cx="7691120" cy="272997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93948">
                  <a:extLst>
                    <a:ext uri="{9D8B030D-6E8A-4147-A177-3AD203B41FA5}">
                      <a16:colId xmlns:a16="http://schemas.microsoft.com/office/drawing/2014/main" val="3916530383"/>
                    </a:ext>
                  </a:extLst>
                </a:gridCol>
                <a:gridCol w="5797172">
                  <a:extLst>
                    <a:ext uri="{9D8B030D-6E8A-4147-A177-3AD203B41FA5}">
                      <a16:colId xmlns:a16="http://schemas.microsoft.com/office/drawing/2014/main" val="2902953300"/>
                    </a:ext>
                  </a:extLst>
                </a:gridCol>
              </a:tblGrid>
              <a:tr h="525463">
                <a:tc>
                  <a:txBody>
                    <a:bodyPr/>
                    <a:lstStyle/>
                    <a:p>
                      <a:r>
                        <a:rPr lang="ru-RU" dirty="0">
                          <a:latin typeface="Bahnschrift Light" panose="020B0502040204020203" pitchFamily="34" charset="0"/>
                        </a:rPr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Bahnschrift Light" panose="020B0502040204020203" pitchFamily="34" charset="0"/>
                        </a:rPr>
                        <a:t>Права и  назначение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00353"/>
                  </a:ext>
                </a:extLst>
              </a:tr>
              <a:tr h="1102254">
                <a:tc>
                  <a:txBody>
                    <a:bodyPr/>
                    <a:lstStyle/>
                    <a:p>
                      <a:r>
                        <a:rPr lang="ru-RU" dirty="0">
                          <a:latin typeface="Bahnschrift Light" panose="020B0502040204020203" pitchFamily="34" charset="0"/>
                        </a:rPr>
                        <a:t>Администратор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Bahnschrift Light" panose="020B0502040204020203" pitchFamily="34" charset="0"/>
                          <a:ea typeface="+mn-ea"/>
                          <a:cs typeface="+mn-cs"/>
                        </a:rPr>
                        <a:t>Управление пользователями (блокировка/разблокировка), просмотр всех отчётов, выгрузка в Excel/Word</a:t>
                      </a:r>
                      <a:endParaRPr lang="ru-RU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634994"/>
                  </a:ext>
                </a:extLst>
              </a:tr>
              <a:tr h="1102254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Bahnschrift Light" panose="020B0502040204020203" pitchFamily="34" charset="0"/>
                          <a:ea typeface="+mn-ea"/>
                          <a:cs typeface="+mn-cs"/>
                        </a:rPr>
                        <a:t>Автор</a:t>
                      </a:r>
                      <a:endParaRPr lang="ru-RU" b="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Bahnschrift Light" panose="020B0502040204020203" pitchFamily="34" charset="0"/>
                          <a:ea typeface="+mn-ea"/>
                          <a:cs typeface="+mn-cs"/>
                        </a:rPr>
                        <a:t>Создание блога, публикация статей, просмотр личной статистики, комментирование и обсуждение статей</a:t>
                      </a:r>
                      <a:endParaRPr lang="ru-RU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098185"/>
                  </a:ext>
                </a:extLst>
              </a:tr>
            </a:tbl>
          </a:graphicData>
        </a:graphic>
      </p:graphicFrame>
      <p:sp>
        <p:nvSpPr>
          <p:cNvPr id="8" name="Овал 7">
            <a:extLst>
              <a:ext uri="{FF2B5EF4-FFF2-40B4-BE49-F238E27FC236}">
                <a16:creationId xmlns:a16="http://schemas.microsoft.com/office/drawing/2014/main" id="{F803A42B-E585-E2E6-5724-48062EF841A8}"/>
              </a:ext>
            </a:extLst>
          </p:cNvPr>
          <p:cNvSpPr/>
          <p:nvPr/>
        </p:nvSpPr>
        <p:spPr>
          <a:xfrm>
            <a:off x="11163300" y="5842000"/>
            <a:ext cx="10287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49BCE-1FFD-3D11-0B0C-E189980B2541}"/>
              </a:ext>
            </a:extLst>
          </p:cNvPr>
          <p:cNvSpPr txBox="1"/>
          <p:nvPr/>
        </p:nvSpPr>
        <p:spPr>
          <a:xfrm>
            <a:off x="2329180" y="4964837"/>
            <a:ext cx="66370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Особенности: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регистрации пользователь автоматически получает роль </a:t>
            </a:r>
            <a:r>
              <a:rPr lang="ru-RU" b="1" dirty="0"/>
              <a:t>автора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Администратор создаётся вручную через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 действия защищены проверкой прав доступа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232" y="578320"/>
            <a:ext cx="6350068" cy="1463331"/>
          </a:xfrm>
        </p:spPr>
        <p:txBody>
          <a:bodyPr rtlCol="0"/>
          <a:lstStyle/>
          <a:p>
            <a:r>
              <a:rPr lang="ru-RU" sz="4000" dirty="0">
                <a:latin typeface="Bahnschrift SemiBold SemiConden" panose="020B0502040204020203" pitchFamily="34" charset="0"/>
              </a:rPr>
              <a:t>Форма авторизации</a:t>
            </a:r>
            <a:br>
              <a:rPr lang="ru-RU" sz="4000" dirty="0">
                <a:latin typeface="Bahnschrift SemiBold SemiConden" panose="020B0502040204020203" pitchFamily="34" charset="0"/>
              </a:rPr>
            </a:br>
            <a:r>
              <a:rPr lang="ru-RU" sz="4000" dirty="0">
                <a:latin typeface="Bahnschrift SemiBold SemiConden" panose="020B0502040204020203" pitchFamily="34" charset="0"/>
              </a:rPr>
              <a:t>страницы входа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B96EE716-6AE7-1563-7786-95C9F6E3766D}"/>
              </a:ext>
            </a:extLst>
          </p:cNvPr>
          <p:cNvSpPr/>
          <p:nvPr/>
        </p:nvSpPr>
        <p:spPr>
          <a:xfrm>
            <a:off x="11163300" y="5842000"/>
            <a:ext cx="10287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15D35-5A14-0CC2-FB9D-D1287E11A8E8}"/>
              </a:ext>
            </a:extLst>
          </p:cNvPr>
          <p:cNvSpPr txBox="1"/>
          <p:nvPr/>
        </p:nvSpPr>
        <p:spPr>
          <a:xfrm>
            <a:off x="5233555" y="3035300"/>
            <a:ext cx="6515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ahnschrift SemiBold SemiConden" panose="020B0502040204020203" pitchFamily="34" charset="0"/>
              </a:rPr>
              <a:t>Особенности: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latin typeface="Bahnschrift SemiBold SemiConden" panose="020B0502040204020203" pitchFamily="34" charset="0"/>
              </a:rPr>
              <a:t>Валидация email и пароля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latin typeface="Bahnschrift SemiBold SemiConden" panose="020B0502040204020203" pitchFamily="34" charset="0"/>
              </a:rPr>
              <a:t>Хеширование пароля (bcrypt)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latin typeface="Bahnschrift SemiBold SemiConden" panose="020B0502040204020203" pitchFamily="34" charset="0"/>
              </a:rPr>
              <a:t>Блокировка после неудачных попыток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685A0A-6186-F1D7-3056-854DB89E0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5" y="596097"/>
            <a:ext cx="4471555" cy="575390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C94628-9AF4-9C74-31E2-6F8AE00F0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8545" y="698500"/>
            <a:ext cx="452235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p:transition spd="slow"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E094-0F22-D67D-92AB-A8C22B92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65CAA-41C4-A8BC-D7F0-E06AE60F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232" y="165100"/>
            <a:ext cx="6007168" cy="2425700"/>
          </a:xfrm>
        </p:spPr>
        <p:txBody>
          <a:bodyPr rtlCol="0"/>
          <a:lstStyle/>
          <a:p>
            <a:r>
              <a:rPr lang="ru-RU" sz="4000" dirty="0">
                <a:latin typeface="Bahnschrift SemiBold SemiConden" panose="020B0502040204020203" pitchFamily="34" charset="0"/>
              </a:rPr>
              <a:t>Форма авторизации</a:t>
            </a:r>
            <a:br>
              <a:rPr lang="ru-RU" sz="4000" dirty="0">
                <a:latin typeface="Bahnschrift SemiBold SemiConden" panose="020B0502040204020203" pitchFamily="34" charset="0"/>
              </a:rPr>
            </a:br>
            <a:r>
              <a:rPr lang="ru-RU" sz="4000" dirty="0">
                <a:latin typeface="Bahnschrift SemiBold SemiConden" panose="020B0502040204020203" pitchFamily="34" charset="0"/>
              </a:rPr>
              <a:t>страницы регистрации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12771045-D214-13D9-0DBA-E516A66D2B7B}"/>
              </a:ext>
            </a:extLst>
          </p:cNvPr>
          <p:cNvSpPr/>
          <p:nvPr/>
        </p:nvSpPr>
        <p:spPr>
          <a:xfrm>
            <a:off x="11163300" y="5842000"/>
            <a:ext cx="10287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847BA-4A31-1DB3-B647-AB875B95F064}"/>
              </a:ext>
            </a:extLst>
          </p:cNvPr>
          <p:cNvSpPr txBox="1"/>
          <p:nvPr/>
        </p:nvSpPr>
        <p:spPr>
          <a:xfrm>
            <a:off x="5233555" y="3360817"/>
            <a:ext cx="6515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ahnschrift SemiBold SemiConden" panose="020B0502040204020203" pitchFamily="34" charset="0"/>
              </a:rPr>
              <a:t>Особенности: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800" dirty="0">
                <a:latin typeface="Bahnschrift SemiBold SemiConden" panose="020B0502040204020203" pitchFamily="34" charset="0"/>
              </a:rPr>
              <a:t>Проверка имени, email и длины пароля, больше 6 символов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800" dirty="0">
                <a:latin typeface="Bahnschrift SemiBold SemiConden" panose="020B0502040204020203" pitchFamily="34" charset="0"/>
              </a:rPr>
              <a:t>Автоматическое присвоение роли «автор» для регистрирующего аккаунт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BA39485-2B20-2753-3504-1E1512BAA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5" y="698500"/>
            <a:ext cx="452235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895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96901"/>
            <a:ext cx="10515599" cy="622299"/>
          </a:xfrm>
        </p:spPr>
        <p:txBody>
          <a:bodyPr rtlCol="0"/>
          <a:lstStyle/>
          <a:p>
            <a:pPr algn="ctr"/>
            <a:r>
              <a:rPr lang="ru-RU" dirty="0">
                <a:latin typeface="Bahnschrift SemiBold SemiConden" panose="020B0502040204020203" pitchFamily="34" charset="0"/>
              </a:rPr>
              <a:t>Хеширование пароля (</a:t>
            </a:r>
            <a:r>
              <a:rPr lang="en-US" dirty="0">
                <a:latin typeface="Bahnschrift SemiBold SemiConden" panose="020B0502040204020203" pitchFamily="34" charset="0"/>
              </a:rPr>
              <a:t>model/</a:t>
            </a:r>
            <a:r>
              <a:rPr lang="en-US" dirty="0" err="1">
                <a:latin typeface="Bahnschrift SemiBold SemiConden" panose="020B0502040204020203" pitchFamily="34" charset="0"/>
              </a:rPr>
              <a:t>user.php</a:t>
            </a:r>
            <a:r>
              <a:rPr lang="ru-RU" dirty="0">
                <a:latin typeface="Bahnschrift SemiBold SemiConden" panose="020B0502040204020203" pitchFamily="34" charset="0"/>
              </a:rPr>
              <a:t>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4680F0-5FD9-53DD-044F-EEA449F1B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433954"/>
            <a:ext cx="10515599" cy="218974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354AD1-52AF-1FB8-47EA-088EBE1DB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890" y="7647765"/>
            <a:ext cx="6230219" cy="550621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3F48FDF-3790-6BDC-1E1A-9607030AD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9" y="4576425"/>
            <a:ext cx="10119517" cy="16846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38AA12-FF4F-0E28-C6CB-AE8172304894}"/>
              </a:ext>
            </a:extLst>
          </p:cNvPr>
          <p:cNvSpPr txBox="1"/>
          <p:nvPr/>
        </p:nvSpPr>
        <p:spPr>
          <a:xfrm>
            <a:off x="1549399" y="3838451"/>
            <a:ext cx="9690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ahnschrift SemiBold SemiConden" panose="020B0502040204020203" pitchFamily="34" charset="0"/>
              </a:rPr>
              <a:t>Ниже показано как выглядит хеширование в столбце «</a:t>
            </a:r>
            <a:r>
              <a:rPr lang="en-US" sz="2800" dirty="0">
                <a:latin typeface="Bahnschrift SemiBold SemiConden" panose="020B0502040204020203" pitchFamily="34" charset="0"/>
              </a:rPr>
              <a:t>password</a:t>
            </a:r>
            <a:r>
              <a:rPr lang="ru-RU" sz="2800" dirty="0">
                <a:latin typeface="Bahnschrift SemiBold SemiConden" panose="020B0502040204020203" pitchFamily="34" charset="0"/>
              </a:rPr>
              <a:t>»</a:t>
            </a:r>
            <a:r>
              <a:rPr lang="en-US" sz="2800" dirty="0">
                <a:latin typeface="Bahnschrift SemiBold SemiConden" panose="020B0502040204020203" pitchFamily="34" charset="0"/>
              </a:rPr>
              <a:t> </a:t>
            </a:r>
            <a:endParaRPr lang="ru-RU" sz="2800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7F3B0FC-4D79-CE62-532A-7E6D6DC04EE5}"/>
              </a:ext>
            </a:extLst>
          </p:cNvPr>
          <p:cNvSpPr/>
          <p:nvPr/>
        </p:nvSpPr>
        <p:spPr>
          <a:xfrm>
            <a:off x="11163300" y="5842000"/>
            <a:ext cx="10287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p:transition spd="slow">
    <p:cover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4D5EC-9EC6-495A-9876-AB14F8897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289689-72B1-FB61-88A8-49AB4AC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96901"/>
            <a:ext cx="10515599" cy="1016000"/>
          </a:xfrm>
        </p:spPr>
        <p:txBody>
          <a:bodyPr rtlCol="0"/>
          <a:lstStyle/>
          <a:p>
            <a:pPr algn="ctr"/>
            <a:r>
              <a:rPr lang="ru-RU" dirty="0">
                <a:latin typeface="Bahnschrift SemiBold SemiConden" panose="020B0502040204020203" pitchFamily="34" charset="0"/>
              </a:rPr>
              <a:t>Хеширование пароля (</a:t>
            </a:r>
            <a:r>
              <a:rPr lang="en-US" dirty="0">
                <a:latin typeface="Bahnschrift SemiBold SemiConden" panose="020B0502040204020203" pitchFamily="34" charset="0"/>
              </a:rPr>
              <a:t>controllers/</a:t>
            </a:r>
            <a:r>
              <a:rPr lang="en-US" dirty="0" err="1">
                <a:latin typeface="Bahnschrift SemiBold SemiConden" panose="020B0502040204020203" pitchFamily="34" charset="0"/>
              </a:rPr>
              <a:t>authcontroller.php</a:t>
            </a:r>
            <a:r>
              <a:rPr lang="ru-RU" dirty="0">
                <a:latin typeface="Bahnschrift SemiBold SemiConden" panose="020B0502040204020203" pitchFamily="34" charset="0"/>
              </a:rPr>
              <a:t>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BBE762-A5B3-F77C-A3E2-A5E404794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060" y="1841499"/>
            <a:ext cx="6861611" cy="4620280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57DE4459-D059-E0E3-5C6C-17B04CA47D10}"/>
              </a:ext>
            </a:extLst>
          </p:cNvPr>
          <p:cNvSpPr/>
          <p:nvPr/>
        </p:nvSpPr>
        <p:spPr>
          <a:xfrm>
            <a:off x="11163300" y="5842000"/>
            <a:ext cx="10287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49559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220" y="368103"/>
            <a:ext cx="9436100" cy="701870"/>
          </a:xfrm>
        </p:spPr>
        <p:txBody>
          <a:bodyPr rtlCol="0"/>
          <a:lstStyle/>
          <a:p>
            <a:r>
              <a:rPr lang="ru-RU" sz="4000" dirty="0">
                <a:latin typeface="Bahnschrift SemiBold SemiConden" panose="020B0502040204020203" pitchFamily="34" charset="0"/>
              </a:rPr>
              <a:t>Проверка авторизации (</a:t>
            </a:r>
            <a:r>
              <a:rPr lang="en-US" sz="4000" b="0" dirty="0">
                <a:latin typeface="Bahnschrift SemiBold SemiConden" panose="020B0502040204020203" pitchFamily="34" charset="0"/>
              </a:rPr>
              <a:t>config/</a:t>
            </a:r>
            <a:r>
              <a:rPr lang="en-US" sz="4000" b="0" dirty="0" err="1">
                <a:latin typeface="Bahnschrift SemiBold SemiConden" panose="020B0502040204020203" pitchFamily="34" charset="0"/>
              </a:rPr>
              <a:t>auth.php</a:t>
            </a:r>
            <a:r>
              <a:rPr lang="en-US" sz="4000" b="0" dirty="0">
                <a:latin typeface="Bahnschrift SemiBold SemiConden" panose="020B0502040204020203" pitchFamily="34" charset="0"/>
              </a:rPr>
              <a:t>)</a:t>
            </a:r>
            <a:endParaRPr lang="ru-RU" sz="4000" dirty="0">
              <a:latin typeface="Bahnschrift SemiBold SemiConden" panose="020B050204020402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C17301-5393-C29F-E8E7-4CEBF0CAF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220" y="1380802"/>
            <a:ext cx="9821260" cy="4842198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21E53613-C386-3015-420D-104C87F36DF0}"/>
              </a:ext>
            </a:extLst>
          </p:cNvPr>
          <p:cNvSpPr/>
          <p:nvPr/>
        </p:nvSpPr>
        <p:spPr>
          <a:xfrm>
            <a:off x="11163300" y="5842000"/>
            <a:ext cx="10287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7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525275B-323D-9C8E-5E56-BD4E82141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53536" y="1380802"/>
            <a:ext cx="5525271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ransition spd="slow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34E2-9BD2-9289-E572-D766EF1E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535EF5-749A-B525-D24E-D107842E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0" y="196846"/>
            <a:ext cx="7937500" cy="1209673"/>
          </a:xfrm>
        </p:spPr>
        <p:txBody>
          <a:bodyPr rtlCol="0"/>
          <a:lstStyle/>
          <a:p>
            <a:r>
              <a:rPr lang="ru-RU" dirty="0">
                <a:latin typeface="Bahnschrift SemiBold SemiConden" panose="020B0502040204020203" pitchFamily="34" charset="0"/>
              </a:rPr>
              <a:t>Проверка авторизации (</a:t>
            </a:r>
            <a:r>
              <a:rPr lang="en-US" b="0" dirty="0">
                <a:latin typeface="Bahnschrift SemiBold SemiConden" panose="020B0502040204020203" pitchFamily="34" charset="0"/>
              </a:rPr>
              <a:t>controllers/</a:t>
            </a:r>
            <a:r>
              <a:rPr lang="en-US" b="0" dirty="0" err="1">
                <a:latin typeface="Bahnschrift SemiBold SemiConden" panose="020B0502040204020203" pitchFamily="34" charset="0"/>
              </a:rPr>
              <a:t>AdminController.php</a:t>
            </a:r>
            <a:r>
              <a:rPr lang="en-US" b="0" dirty="0">
                <a:latin typeface="Bahnschrift SemiBold SemiConden" panose="020B0502040204020203" pitchFamily="34" charset="0"/>
              </a:rPr>
              <a:t>)</a:t>
            </a:r>
            <a:endParaRPr lang="ru-RU" dirty="0">
              <a:latin typeface="Bahnschrift SemiBold SemiConden" panose="020B0502040204020203" pitchFamily="34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5AD1C123-5471-0CEC-B41A-E31FE8B8E3FE}"/>
              </a:ext>
            </a:extLst>
          </p:cNvPr>
          <p:cNvSpPr/>
          <p:nvPr/>
        </p:nvSpPr>
        <p:spPr>
          <a:xfrm>
            <a:off x="11163300" y="5842000"/>
            <a:ext cx="10287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8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CE19C6-6D21-01FF-1F89-0AC90236B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164" y="1610991"/>
            <a:ext cx="6699636" cy="486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256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009" y="355599"/>
            <a:ext cx="7043617" cy="657226"/>
          </a:xfrm>
        </p:spPr>
        <p:txBody>
          <a:bodyPr rtlCol="0"/>
          <a:lstStyle/>
          <a:p>
            <a:r>
              <a:rPr lang="ru-RU" dirty="0"/>
              <a:t>Описание отчётов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FCD8491F-0B77-E756-8E24-A06DB0A36C6F}"/>
              </a:ext>
            </a:extLst>
          </p:cNvPr>
          <p:cNvSpPr/>
          <p:nvPr/>
        </p:nvSpPr>
        <p:spPr>
          <a:xfrm>
            <a:off x="11163300" y="5842000"/>
            <a:ext cx="10287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9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0823772-8D1D-8E25-09C9-4A6D0AA45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01288"/>
              </p:ext>
            </p:extLst>
          </p:nvPr>
        </p:nvGraphicFramePr>
        <p:xfrm>
          <a:off x="3651167" y="1774719"/>
          <a:ext cx="8369299" cy="330538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67014">
                  <a:extLst>
                    <a:ext uri="{9D8B030D-6E8A-4147-A177-3AD203B41FA5}">
                      <a16:colId xmlns:a16="http://schemas.microsoft.com/office/drawing/2014/main" val="2865056656"/>
                    </a:ext>
                  </a:extLst>
                </a:gridCol>
                <a:gridCol w="2415699">
                  <a:extLst>
                    <a:ext uri="{9D8B030D-6E8A-4147-A177-3AD203B41FA5}">
                      <a16:colId xmlns:a16="http://schemas.microsoft.com/office/drawing/2014/main" val="2471718293"/>
                    </a:ext>
                  </a:extLst>
                </a:gridCol>
                <a:gridCol w="3718186">
                  <a:extLst>
                    <a:ext uri="{9D8B030D-6E8A-4147-A177-3AD203B41FA5}">
                      <a16:colId xmlns:a16="http://schemas.microsoft.com/office/drawing/2014/main" val="2225069592"/>
                    </a:ext>
                  </a:extLst>
                </a:gridCol>
                <a:gridCol w="1568400">
                  <a:extLst>
                    <a:ext uri="{9D8B030D-6E8A-4147-A177-3AD203B41FA5}">
                      <a16:colId xmlns:a16="http://schemas.microsoft.com/office/drawing/2014/main" val="3681298744"/>
                    </a:ext>
                  </a:extLst>
                </a:gridCol>
              </a:tblGrid>
              <a:tr h="470747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Отчет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Доступ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292616"/>
                  </a:ext>
                </a:extLst>
              </a:tr>
              <a:tr h="47074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Пользователи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Список всех пользователей с ролями, статусом и датой регистрации</a:t>
                      </a:r>
                      <a:endParaRPr lang="ru-RU" sz="1800" dirty="0">
                        <a:latin typeface="Bahnschrift SemiBold SemiConden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Админ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741967"/>
                  </a:ext>
                </a:extLst>
              </a:tr>
              <a:tr h="47074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Статьи и просмотры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Все статьи с авторами, блогами, просмотрами и датой публикации</a:t>
                      </a:r>
                      <a:endParaRPr lang="ru-RU" sz="1800" dirty="0">
                        <a:latin typeface="Bahnschrift SemiBold SemiConden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Админ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909513"/>
                  </a:ext>
                </a:extLst>
              </a:tr>
              <a:tr h="47074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Топ блогов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Рейтинг блогов по количеству статей и просмотров</a:t>
                      </a:r>
                      <a:endParaRPr lang="ru-RU" sz="1800" dirty="0">
                        <a:latin typeface="Bahnschrift SemiBold SemiConden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Админ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733259"/>
                  </a:ext>
                </a:extLst>
              </a:tr>
              <a:tr h="47074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Моя статистика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Персональная статистика автора (блоги, статьи, просмотры, комментарии)</a:t>
                      </a:r>
                      <a:endParaRPr lang="ru-RU" sz="1800" dirty="0">
                        <a:latin typeface="Bahnschrift SemiBold SemiConden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Bahnschrift SemiBold SemiConden" panose="020B0502040204020203" pitchFamily="34" charset="0"/>
                        </a:rPr>
                        <a:t>Админ, автор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20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p:transition spd="slow">
    <p:cover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6822-FA55-8788-829B-1001E5A42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7C391-EA49-3CDE-5311-66DBE4AA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5650" y="139699"/>
            <a:ext cx="7112000" cy="711201"/>
          </a:xfrm>
        </p:spPr>
        <p:txBody>
          <a:bodyPr rtlCol="0"/>
          <a:lstStyle/>
          <a:p>
            <a:r>
              <a:rPr lang="ru-RU" dirty="0">
                <a:latin typeface="Bahnschrift SemiBold SemiConden" panose="020B0502040204020203" pitchFamily="34" charset="0"/>
              </a:rPr>
              <a:t>Алгоритм формирования отчётов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A673D1C8-00E9-09F2-0843-24924C7348E2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E8CC29-089F-D509-E5E6-F4BAF7C28B22}"/>
              </a:ext>
            </a:extLst>
          </p:cNvPr>
          <p:cNvSpPr txBox="1"/>
          <p:nvPr/>
        </p:nvSpPr>
        <p:spPr>
          <a:xfrm>
            <a:off x="3670300" y="1079500"/>
            <a:ext cx="4279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SemiConden" panose="020B0502040204020203" pitchFamily="34" charset="0"/>
              </a:rPr>
              <a:t>1. Контроллер получает данные из модели (</a:t>
            </a:r>
            <a:r>
              <a:rPr lang="ru-RU" sz="2800" dirty="0" err="1">
                <a:latin typeface="Bahnschrift SemiBold SemiConden" panose="020B0502040204020203" pitchFamily="34" charset="0"/>
              </a:rPr>
              <a:t>Report.php</a:t>
            </a:r>
            <a:r>
              <a:rPr lang="ru-RU" sz="2800" dirty="0">
                <a:latin typeface="Bahnschrift SemiBold SemiConden" panose="020B0502040204020203" pitchFamily="34" charset="0"/>
              </a:rPr>
              <a:t>)</a:t>
            </a:r>
          </a:p>
          <a:p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B96760-3E95-CAC7-AAC5-251BDE607EB0}"/>
              </a:ext>
            </a:extLst>
          </p:cNvPr>
          <p:cNvSpPr txBox="1"/>
          <p:nvPr/>
        </p:nvSpPr>
        <p:spPr>
          <a:xfrm>
            <a:off x="8382000" y="2083653"/>
            <a:ext cx="3448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SemiConden" panose="020B0502040204020203" pitchFamily="34" charset="0"/>
              </a:rPr>
              <a:t>2. Модель выполняет SQL-запрос с JOIN-таблиц</a:t>
            </a:r>
          </a:p>
          <a:p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73B3F-AB79-3BCC-1D08-2BB6A76E9A4D}"/>
              </a:ext>
            </a:extLst>
          </p:cNvPr>
          <p:cNvSpPr txBox="1"/>
          <p:nvPr/>
        </p:nvSpPr>
        <p:spPr>
          <a:xfrm>
            <a:off x="3670300" y="3666154"/>
            <a:ext cx="3448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SemiConden" panose="020B0502040204020203" pitchFamily="34" charset="0"/>
              </a:rPr>
              <a:t>3. Данные передаются в View для отображения</a:t>
            </a:r>
          </a:p>
          <a:p>
            <a:endParaRPr lang="ru-R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3621C1-3720-ECE9-C6B0-3EDE81C487F7}"/>
              </a:ext>
            </a:extLst>
          </p:cNvPr>
          <p:cNvSpPr txBox="1"/>
          <p:nvPr/>
        </p:nvSpPr>
        <p:spPr>
          <a:xfrm>
            <a:off x="8477250" y="4522906"/>
            <a:ext cx="3448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SemiConden" panose="020B0502040204020203" pitchFamily="34" charset="0"/>
              </a:rPr>
              <a:t>4. Админ может выгрузить отчёт в Excel или Word</a:t>
            </a:r>
          </a:p>
          <a:p>
            <a:endParaRPr lang="ru-RU" sz="2400" dirty="0"/>
          </a:p>
        </p:txBody>
      </p:sp>
      <p:cxnSp>
        <p:nvCxnSpPr>
          <p:cNvPr id="11" name="Соединитель: изогнутый 10">
            <a:extLst>
              <a:ext uri="{FF2B5EF4-FFF2-40B4-BE49-F238E27FC236}">
                <a16:creationId xmlns:a16="http://schemas.microsoft.com/office/drawing/2014/main" id="{45A6F3D1-FC5B-89B5-8EF3-9CE50A11A413}"/>
              </a:ext>
            </a:extLst>
          </p:cNvPr>
          <p:cNvCxnSpPr>
            <a:endCxn id="6" idx="1"/>
          </p:cNvCxnSpPr>
          <p:nvPr/>
        </p:nvCxnSpPr>
        <p:spPr>
          <a:xfrm rot="16200000" flipH="1">
            <a:off x="6904767" y="1483583"/>
            <a:ext cx="1690816" cy="126365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Соединитель: изогнутый 12">
            <a:extLst>
              <a:ext uri="{FF2B5EF4-FFF2-40B4-BE49-F238E27FC236}">
                <a16:creationId xmlns:a16="http://schemas.microsoft.com/office/drawing/2014/main" id="{47C41AF3-866F-3917-16EE-B96A115AB128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 flipV="1">
            <a:off x="5394326" y="2972560"/>
            <a:ext cx="2978153" cy="69359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Соединитель: изогнутый 18">
            <a:extLst>
              <a:ext uri="{FF2B5EF4-FFF2-40B4-BE49-F238E27FC236}">
                <a16:creationId xmlns:a16="http://schemas.microsoft.com/office/drawing/2014/main" id="{10E5E94D-80E2-8480-243C-F1BE5C563D4F}"/>
              </a:ext>
            </a:extLst>
          </p:cNvPr>
          <p:cNvCxnSpPr>
            <a:cxnSpLocks/>
            <a:stCxn id="7" idx="0"/>
            <a:endCxn id="9" idx="1"/>
          </p:cNvCxnSpPr>
          <p:nvPr/>
        </p:nvCxnSpPr>
        <p:spPr>
          <a:xfrm rot="16200000" flipH="1">
            <a:off x="6068829" y="2991649"/>
            <a:ext cx="1733915" cy="3082925"/>
          </a:xfrm>
          <a:prstGeom prst="curvedConnector4">
            <a:avLst>
              <a:gd name="adj1" fmla="val -13184"/>
              <a:gd name="adj2" fmla="val 7796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604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7749-5567-8DD5-D1E4-DF4161C3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E2F1D-6C4C-5C56-B8AF-6F124E34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108" y="223442"/>
            <a:ext cx="6896101" cy="611193"/>
          </a:xfrm>
        </p:spPr>
        <p:txBody>
          <a:bodyPr rtlCol="0"/>
          <a:lstStyle/>
          <a:p>
            <a:r>
              <a:rPr lang="ru-RU" sz="4000" dirty="0">
                <a:latin typeface="Bahnschrift SemiBold SemiConden" panose="020B0502040204020203" pitchFamily="34" charset="0"/>
              </a:rPr>
              <a:t>Скриншоты страниц отчётов</a:t>
            </a:r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03D23CE2-3A6D-569D-30DC-EE871DB5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100" y="1097051"/>
            <a:ext cx="3283119" cy="351272"/>
          </a:xfrm>
        </p:spPr>
        <p:txBody>
          <a:bodyPr rtlCol="0">
            <a:normAutofit/>
          </a:bodyPr>
          <a:lstStyle/>
          <a:p>
            <a:pPr rtl="0"/>
            <a:r>
              <a:rPr lang="ru-RU" sz="2000" dirty="0">
                <a:latin typeface="Bahnschrift SemiBold SemiConden" panose="020B0502040204020203" pitchFamily="34" charset="0"/>
              </a:rPr>
              <a:t>Главная страница отчетов: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5E42BDD-03A8-86C4-D887-3CB0FA97EE8D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11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363560-E565-2166-F058-C88F15FDE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52" y="1562290"/>
            <a:ext cx="4882612" cy="492740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567D96-7396-F1CA-451C-C4D0DB665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7982" y="1839676"/>
            <a:ext cx="7621064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97045"/>
      </p:ext>
    </p:extLst>
  </p:cSld>
  <p:clrMapOvr>
    <a:masterClrMapping/>
  </p:clrMapOvr>
  <p:transition spd="slow">
    <p:cover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108" y="223442"/>
            <a:ext cx="6896101" cy="611193"/>
          </a:xfrm>
        </p:spPr>
        <p:txBody>
          <a:bodyPr rtlCol="0"/>
          <a:lstStyle/>
          <a:p>
            <a:r>
              <a:rPr lang="ru-RU" sz="4000" dirty="0">
                <a:latin typeface="Bahnschrift SemiBold SemiConden" panose="020B0502040204020203" pitchFamily="34" charset="0"/>
              </a:rPr>
              <a:t>Скриншоты страниц отчётов</a:t>
            </a:r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2928" y="1272687"/>
            <a:ext cx="3702957" cy="351272"/>
          </a:xfrm>
        </p:spPr>
        <p:txBody>
          <a:bodyPr rtlCol="0">
            <a:noAutofit/>
          </a:bodyPr>
          <a:lstStyle/>
          <a:p>
            <a:r>
              <a:rPr lang="ru-RU" sz="2000" b="1" dirty="0">
                <a:latin typeface="Bahnschrift SemiBold SemiConden" panose="020B0502040204020203" pitchFamily="34" charset="0"/>
              </a:rPr>
              <a:t>Отчёт "Пользователи системы"</a:t>
            </a:r>
            <a:r>
              <a:rPr lang="ru-RU" sz="2000" dirty="0">
                <a:latin typeface="Bahnschrift SemiBold SemiConden" panose="020B0502040204020203" pitchFamily="34" charset="0"/>
              </a:rPr>
              <a:t>: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F226AAE-BE4B-DBEB-C81B-26C4C6216FEA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12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C19177C-B011-8B2C-6B46-DFE0CE151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97" y="1738076"/>
            <a:ext cx="10082340" cy="447403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B31DBE-E8F7-81B9-9640-427AF416A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97" y="-4977313"/>
            <a:ext cx="10082340" cy="45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7B3AB-3BDC-49E9-A408-2878242E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CD4D5-F406-D905-9150-FA3BA7621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108" y="223442"/>
            <a:ext cx="6896101" cy="611193"/>
          </a:xfrm>
        </p:spPr>
        <p:txBody>
          <a:bodyPr rtlCol="0"/>
          <a:lstStyle/>
          <a:p>
            <a:r>
              <a:rPr lang="ru-RU" sz="4000" dirty="0">
                <a:latin typeface="Bahnschrift SemiBold SemiConden" panose="020B0502040204020203" pitchFamily="34" charset="0"/>
              </a:rPr>
              <a:t>Скриншоты страниц отчётов</a:t>
            </a:r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3962DAF4-17F4-5D43-B0DD-ECA2E1176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2928" y="1272687"/>
            <a:ext cx="3702957" cy="351272"/>
          </a:xfrm>
        </p:spPr>
        <p:txBody>
          <a:bodyPr rtlCol="0">
            <a:noAutofit/>
          </a:bodyPr>
          <a:lstStyle/>
          <a:p>
            <a:r>
              <a:rPr lang="ru-RU" sz="2000" b="1" dirty="0">
                <a:latin typeface="Bahnschrift SemiBold SemiConden" panose="020B0502040204020203" pitchFamily="34" charset="0"/>
              </a:rPr>
              <a:t>Отчёт «Статьи и просмотры"</a:t>
            </a:r>
            <a:r>
              <a:rPr lang="ru-RU" sz="2000" dirty="0">
                <a:latin typeface="Bahnschrift SemiBold SemiConden" panose="020B0502040204020203" pitchFamily="34" charset="0"/>
              </a:rPr>
              <a:t>: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F6E8CF87-FDC2-1088-152F-D72CA97C2B7B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13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8A164B7-B746-8853-FCB4-9B054D224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28" y="1797898"/>
            <a:ext cx="10082340" cy="455210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D1174B-5A6E-D82F-C855-8D7508D62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87529" y="1942731"/>
            <a:ext cx="10088608" cy="426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06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832D-F32B-4054-37BB-8465F8E13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A2510-B0A0-914B-B525-5AA848D1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108" y="223442"/>
            <a:ext cx="6896101" cy="611193"/>
          </a:xfrm>
        </p:spPr>
        <p:txBody>
          <a:bodyPr rtlCol="0"/>
          <a:lstStyle/>
          <a:p>
            <a:r>
              <a:rPr lang="ru-RU" sz="4000" dirty="0">
                <a:latin typeface="Bahnschrift SemiBold SemiConden" panose="020B0502040204020203" pitchFamily="34" charset="0"/>
              </a:rPr>
              <a:t>Скриншоты страниц отчётов</a:t>
            </a:r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523CD3CA-9B82-6962-C097-A6E1ABB4D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2928" y="1272687"/>
            <a:ext cx="3702957" cy="351272"/>
          </a:xfrm>
        </p:spPr>
        <p:txBody>
          <a:bodyPr rtlCol="0">
            <a:noAutofit/>
          </a:bodyPr>
          <a:lstStyle/>
          <a:p>
            <a:r>
              <a:rPr lang="ru-RU" sz="2000" b="1" dirty="0">
                <a:latin typeface="Bahnschrift SemiBold SemiConden" panose="020B0502040204020203" pitchFamily="34" charset="0"/>
              </a:rPr>
              <a:t>Отчёт «Топ блогов"</a:t>
            </a:r>
            <a:r>
              <a:rPr lang="ru-RU" sz="2000" dirty="0">
                <a:latin typeface="Bahnschrift SemiBold SemiConden" panose="020B0502040204020203" pitchFamily="34" charset="0"/>
              </a:rPr>
              <a:t>: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873277D1-1D03-4881-9AD0-4A3F58B2E9E1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667297-1EAE-3CCC-7518-33F2C8AC5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28" y="1768560"/>
            <a:ext cx="10088608" cy="426243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65C99D-665E-F5BD-83A9-EC27F3984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27" y="7163904"/>
            <a:ext cx="10088607" cy="485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293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FD29-2EEF-24A0-4A50-167D0D5C1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EF8929-264F-4674-5538-4CE1C0D4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108" y="223442"/>
            <a:ext cx="6896101" cy="611193"/>
          </a:xfrm>
        </p:spPr>
        <p:txBody>
          <a:bodyPr rtlCol="0"/>
          <a:lstStyle/>
          <a:p>
            <a:r>
              <a:rPr lang="ru-RU" sz="4000" dirty="0">
                <a:latin typeface="Bahnschrift SemiBold SemiConden" panose="020B0502040204020203" pitchFamily="34" charset="0"/>
              </a:rPr>
              <a:t>Скриншоты страниц отчётов</a:t>
            </a:r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5B113038-917A-5C9A-8457-80E995AA5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2928" y="1272687"/>
            <a:ext cx="3702957" cy="351272"/>
          </a:xfrm>
        </p:spPr>
        <p:txBody>
          <a:bodyPr rtlCol="0">
            <a:noAutofit/>
          </a:bodyPr>
          <a:lstStyle/>
          <a:p>
            <a:r>
              <a:rPr lang="ru-RU" sz="2000" b="1" dirty="0">
                <a:latin typeface="Bahnschrift SemiBold SemiConden" panose="020B0502040204020203" pitchFamily="34" charset="0"/>
              </a:rPr>
              <a:t>Моя статистика:</a:t>
            </a:r>
            <a:endParaRPr lang="ru-RU" sz="2000" dirty="0">
              <a:latin typeface="Bahnschrift SemiBold SemiConden" panose="020B0502040204020203" pitchFamily="34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A287103-F678-2F09-B108-0DC0ED144D67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15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198F26-A820-45B1-4831-0199B6DE0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28" y="1623959"/>
            <a:ext cx="10088607" cy="485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324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8" y="382874"/>
            <a:ext cx="11480800" cy="1091627"/>
          </a:xfrm>
        </p:spPr>
        <p:txBody>
          <a:bodyPr rtlCol="0"/>
          <a:lstStyle/>
          <a:p>
            <a:pPr algn="ctr"/>
            <a:r>
              <a:rPr lang="ru-RU" sz="3200" dirty="0">
                <a:latin typeface="Bahnschrift SemiBold SemiConden" panose="020B0502040204020203" pitchFamily="34" charset="0"/>
              </a:rPr>
              <a:t>Формирование и выгрузка отчётов (</a:t>
            </a:r>
            <a:r>
              <a:rPr lang="en-US" sz="3200" b="0" dirty="0">
                <a:latin typeface="Bahnschrift SemiBold SemiConden" panose="020B0502040204020203" pitchFamily="34" charset="0"/>
              </a:rPr>
              <a:t>controllers/ReportController.php</a:t>
            </a:r>
            <a:r>
              <a:rPr lang="ru-RU" sz="3200" dirty="0">
                <a:latin typeface="Bahnschrift SemiBold SemiConden" panose="020B0502040204020203" pitchFamily="34" charset="0"/>
              </a:rPr>
              <a:t>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59FFF0-74C7-6787-3188-97A8B131E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88" y="1669141"/>
            <a:ext cx="6117770" cy="4936749"/>
          </a:xfrm>
          <a:prstGeom prst="rect">
            <a:avLst/>
          </a:prstGeom>
        </p:spPr>
      </p:pic>
      <p:sp>
        <p:nvSpPr>
          <p:cNvPr id="15" name="Овал 14">
            <a:extLst>
              <a:ext uri="{FF2B5EF4-FFF2-40B4-BE49-F238E27FC236}">
                <a16:creationId xmlns:a16="http://schemas.microsoft.com/office/drawing/2014/main" id="{C51FFDC4-C9AA-CC00-E806-D38828F2FE12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D6720C-7523-C5A9-7B62-06CCFB5981F0}"/>
              </a:ext>
            </a:extLst>
          </p:cNvPr>
          <p:cNvSpPr txBox="1"/>
          <p:nvPr/>
        </p:nvSpPr>
        <p:spPr>
          <a:xfrm>
            <a:off x="7130143" y="3135030"/>
            <a:ext cx="317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ahnschrift SemiBold SemiConden" panose="020B0502040204020203" pitchFamily="34" charset="0"/>
              </a:rPr>
              <a:t>Пример для </a:t>
            </a:r>
            <a:r>
              <a:rPr lang="en-US" sz="2800" dirty="0">
                <a:latin typeface="Bahnschrift SemiBold SemiConden" panose="020B0502040204020203" pitchFamily="34" charset="0"/>
              </a:rPr>
              <a:t>Excel</a:t>
            </a:r>
            <a:endParaRPr lang="ru-RU" sz="2800" dirty="0">
              <a:latin typeface="Bahnschrift SemiBold SemiConden" panose="020B0502040204020203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0FEAB42-CC9E-5105-7392-40C935205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57566" y="1669141"/>
            <a:ext cx="5725883" cy="486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CDFC-4269-EE30-1ADB-9418BAFC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B1E831E-FDB8-1664-1374-EA4590550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8" y="382874"/>
            <a:ext cx="11480800" cy="1091627"/>
          </a:xfrm>
        </p:spPr>
        <p:txBody>
          <a:bodyPr rtlCol="0"/>
          <a:lstStyle/>
          <a:p>
            <a:pPr algn="ctr"/>
            <a:r>
              <a:rPr lang="ru-RU" sz="3200" dirty="0">
                <a:latin typeface="Bahnschrift SemiBold SemiConden" panose="020B0502040204020203" pitchFamily="34" charset="0"/>
              </a:rPr>
              <a:t>Формирование и выгрузка отчётов (</a:t>
            </a:r>
            <a:r>
              <a:rPr lang="en-US" sz="3200" b="0" dirty="0">
                <a:latin typeface="Bahnschrift SemiBold SemiConden" panose="020B0502040204020203" pitchFamily="34" charset="0"/>
              </a:rPr>
              <a:t>controllers/ReportController.php</a:t>
            </a:r>
            <a:r>
              <a:rPr lang="ru-RU" sz="3200" dirty="0">
                <a:latin typeface="Bahnschrift SemiBold SemiConden" panose="020B0502040204020203" pitchFamily="34" charset="0"/>
              </a:rPr>
              <a:t>)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5251BB35-DB4F-C74E-9E7D-38E3B0B9AF80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</a:t>
            </a:r>
            <a:r>
              <a:rPr lang="en-US" sz="5400" b="1" spc="300" dirty="0">
                <a:latin typeface="Bahnschrift SemiBold SemiConden" panose="020B0502040204020203" pitchFamily="34" charset="0"/>
              </a:rPr>
              <a:t>7</a:t>
            </a:r>
            <a:endParaRPr lang="ru-RU" sz="5400" b="1" spc="300" dirty="0">
              <a:latin typeface="Bahnschrift SemiBold SemiConden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7BF07C-0FF9-0D7D-A4DD-19AFEF4549BF}"/>
              </a:ext>
            </a:extLst>
          </p:cNvPr>
          <p:cNvSpPr txBox="1"/>
          <p:nvPr/>
        </p:nvSpPr>
        <p:spPr>
          <a:xfrm>
            <a:off x="7335157" y="3135030"/>
            <a:ext cx="317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ahnschrift SemiBold SemiConden" panose="020B0502040204020203" pitchFamily="34" charset="0"/>
              </a:rPr>
              <a:t>Пример для </a:t>
            </a:r>
            <a:r>
              <a:rPr lang="en-US" sz="2800" dirty="0">
                <a:latin typeface="Bahnschrift SemiBold SemiConden" panose="020B0502040204020203" pitchFamily="34" charset="0"/>
              </a:rPr>
              <a:t>Word</a:t>
            </a:r>
            <a:endParaRPr lang="ru-RU" sz="2800" dirty="0">
              <a:latin typeface="Bahnschrift SemiBold SemiConden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B01D55-4256-8015-927E-96FC34FF4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77" y="1712628"/>
            <a:ext cx="6215737" cy="486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439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133" y="44492"/>
            <a:ext cx="8505371" cy="1012782"/>
          </a:xfrm>
        </p:spPr>
        <p:txBody>
          <a:bodyPr rtlCol="0"/>
          <a:lstStyle/>
          <a:p>
            <a:r>
              <a:rPr lang="ru-RU" sz="4000" dirty="0">
                <a:latin typeface="Bahnschrift SemiBold SemiConden" panose="020B0502040204020203" pitchFamily="34" charset="0"/>
              </a:rPr>
              <a:t>Скриншоты выгруженных отчётов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A4E3F18-6486-2F15-65BE-68600C864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95" y="1302775"/>
            <a:ext cx="8143391" cy="209364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1755E29-CFE0-0EF4-3330-4E821000F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521" y="3641924"/>
            <a:ext cx="7552392" cy="2996089"/>
          </a:xfrm>
          <a:prstGeom prst="rect">
            <a:avLst/>
          </a:prstGeom>
        </p:spPr>
      </p:pic>
      <p:sp>
        <p:nvSpPr>
          <p:cNvPr id="14" name="Овал 13">
            <a:extLst>
              <a:ext uri="{FF2B5EF4-FFF2-40B4-BE49-F238E27FC236}">
                <a16:creationId xmlns:a16="http://schemas.microsoft.com/office/drawing/2014/main" id="{95F3A5B7-4D8A-D727-9BCC-84FE281F4F4C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</a:t>
            </a:r>
            <a:r>
              <a:rPr lang="en-US" sz="5400" b="1" spc="300" dirty="0">
                <a:latin typeface="Bahnschrift SemiBold SemiConden" panose="020B0502040204020203" pitchFamily="34" charset="0"/>
              </a:rPr>
              <a:t>8</a:t>
            </a:r>
            <a:endParaRPr lang="ru-RU" sz="5400" b="1" spc="3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  <p:transition spd="slow">
    <p:cover dir="r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36" y="290285"/>
            <a:ext cx="9879437" cy="647657"/>
          </a:xfrm>
        </p:spPr>
        <p:txBody>
          <a:bodyPr rtlCol="0"/>
          <a:lstStyle/>
          <a:p>
            <a:r>
              <a:rPr lang="ru-RU" sz="4400" b="0" dirty="0">
                <a:latin typeface="Bahnschrift SemiBold SemiConden" panose="020B0502040204020203" pitchFamily="34" charset="0"/>
              </a:rPr>
              <a:t>Распределение обязанностей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1D597B65-B31F-F307-82EE-B017DFCB1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374901"/>
              </p:ext>
            </p:extLst>
          </p:nvPr>
        </p:nvGraphicFramePr>
        <p:xfrm>
          <a:off x="1156281" y="1896775"/>
          <a:ext cx="9879438" cy="3940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914">
                  <a:extLst>
                    <a:ext uri="{9D8B030D-6E8A-4147-A177-3AD203B41FA5}">
                      <a16:colId xmlns:a16="http://schemas.microsoft.com/office/drawing/2014/main" val="2328733102"/>
                    </a:ext>
                  </a:extLst>
                </a:gridCol>
                <a:gridCol w="2162628">
                  <a:extLst>
                    <a:ext uri="{9D8B030D-6E8A-4147-A177-3AD203B41FA5}">
                      <a16:colId xmlns:a16="http://schemas.microsoft.com/office/drawing/2014/main" val="2999947270"/>
                    </a:ext>
                  </a:extLst>
                </a:gridCol>
                <a:gridCol w="5771896">
                  <a:extLst>
                    <a:ext uri="{9D8B030D-6E8A-4147-A177-3AD203B41FA5}">
                      <a16:colId xmlns:a16="http://schemas.microsoft.com/office/drawing/2014/main" val="940539394"/>
                    </a:ext>
                  </a:extLst>
                </a:gridCol>
              </a:tblGrid>
              <a:tr h="556856">
                <a:tc>
                  <a:txBody>
                    <a:bodyPr/>
                    <a:lstStyle/>
                    <a:p>
                      <a:pPr algn="l"/>
                      <a:r>
                        <a:rPr lang="ru-RU" sz="2400" dirty="0">
                          <a:solidFill>
                            <a:schemeClr val="tx1"/>
                          </a:solidFill>
                          <a:latin typeface="Bahnschrift SemiBold SemiConden" panose="020B0502040204020203" pitchFamily="34" charset="0"/>
                        </a:rPr>
                        <a:t>Участник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dirty="0">
                          <a:solidFill>
                            <a:schemeClr val="tx1"/>
                          </a:solidFill>
                          <a:latin typeface="Bahnschrift SemiBold SemiConden" panose="020B0502040204020203" pitchFamily="34" charset="0"/>
                        </a:rPr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dirty="0">
                          <a:solidFill>
                            <a:schemeClr val="tx1"/>
                          </a:solidFill>
                          <a:latin typeface="Bahnschrift SemiBold SemiConden" panose="020B0502040204020203" pitchFamily="34" charset="0"/>
                        </a:rPr>
                        <a:t>Выполненные задачи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163900"/>
                  </a:ext>
                </a:extLst>
              </a:tr>
              <a:tr h="2350598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latin typeface="Bahnschrift SemiBold SemiConden" panose="020B0502040204020203" pitchFamily="34" charset="0"/>
                        </a:rPr>
                        <a:t>Гармонов Р.А.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latin typeface="Bahnschrift SemiBold SemiConden" panose="020B0502040204020203" pitchFamily="34" charset="0"/>
                        </a:rPr>
                        <a:t>Разработчик проекта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Модель 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Report.php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 (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методы отчётов)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Контроллер (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ReportController.php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) и доработка прошлых контроллеров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Страницы отчётов (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views/reports/)</a:t>
                      </a:r>
                      <a:endParaRPr lang="ru-RU" sz="2400" b="0" i="0" kern="1200" dirty="0">
                        <a:solidFill>
                          <a:schemeClr val="dk1"/>
                        </a:solidFill>
                        <a:effectLst/>
                        <a:latin typeface="Bahnschrift SemiBold SemiConden" panose="020B0502040204020203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Экспорт в 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Excel 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и 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Word (PhpSpreadsheet, PhpWord)</a:t>
                      </a:r>
                      <a:endParaRPr lang="ru-RU" sz="2400" b="0" i="0" kern="1200" dirty="0">
                        <a:solidFill>
                          <a:schemeClr val="dk1"/>
                        </a:solidFill>
                        <a:effectLst/>
                        <a:latin typeface="Bahnschrift SemiBold SemiConden" panose="020B0502040204020203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Защита доступа (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config/auth.php)</a:t>
                      </a:r>
                      <a:endParaRPr lang="ru-RU" sz="2400" b="0" i="0" kern="1200" dirty="0">
                        <a:solidFill>
                          <a:schemeClr val="dk1"/>
                        </a:solidFill>
                        <a:effectLst/>
                        <a:latin typeface="Bahnschrift SemiBold SemiConden" panose="020B0502040204020203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Админ-панель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  <a:ea typeface="+mn-ea"/>
                          <a:cs typeface="+mn-cs"/>
                        </a:rPr>
                        <a:t>Презентация и документация</a:t>
                      </a:r>
                      <a:endParaRPr lang="ru-RU" sz="2400" b="0" i="0" dirty="0">
                        <a:latin typeface="Bahnschrift SemiBold SemiConden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485834"/>
                  </a:ext>
                </a:extLst>
              </a:tr>
            </a:tbl>
          </a:graphicData>
        </a:graphic>
      </p:graphicFrame>
      <p:sp>
        <p:nvSpPr>
          <p:cNvPr id="11" name="Овал 10">
            <a:extLst>
              <a:ext uri="{FF2B5EF4-FFF2-40B4-BE49-F238E27FC236}">
                <a16:creationId xmlns:a16="http://schemas.microsoft.com/office/drawing/2014/main" id="{76E12040-0698-F0E8-18C3-8F48DAE4C9AE}"/>
              </a:ext>
            </a:extLst>
          </p:cNvPr>
          <p:cNvSpPr/>
          <p:nvPr/>
        </p:nvSpPr>
        <p:spPr>
          <a:xfrm>
            <a:off x="11023600" y="5842000"/>
            <a:ext cx="1168400" cy="1016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p:transition spd="slow">
    <p:cover dir="l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14" y="609600"/>
            <a:ext cx="11567886" cy="779763"/>
          </a:xfrm>
        </p:spPr>
        <p:txBody>
          <a:bodyPr rtlCol="0"/>
          <a:lstStyle/>
          <a:p>
            <a:r>
              <a:rPr lang="ru-RU" sz="4000" b="0" dirty="0">
                <a:latin typeface="Bahnschrift SemiBold SemiConden" panose="020B0502040204020203" pitchFamily="34" charset="0"/>
              </a:rPr>
              <a:t>Новая функциональность (отличия от модуля 2)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6CA8E74-278C-404C-55C1-2CBBFA581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267769"/>
              </p:ext>
            </p:extLst>
          </p:nvPr>
        </p:nvGraphicFramePr>
        <p:xfrm>
          <a:off x="1683658" y="1716467"/>
          <a:ext cx="9564914" cy="4531933"/>
        </p:xfrm>
        <a:graphic>
          <a:graphicData uri="http://schemas.openxmlformats.org/drawingml/2006/table">
            <a:tbl>
              <a:tblPr firstRow="1" bandRow="1"/>
              <a:tblGrid>
                <a:gridCol w="3468913">
                  <a:extLst>
                    <a:ext uri="{9D8B030D-6E8A-4147-A177-3AD203B41FA5}">
                      <a16:colId xmlns:a16="http://schemas.microsoft.com/office/drawing/2014/main" val="3617417594"/>
                    </a:ext>
                  </a:extLst>
                </a:gridCol>
                <a:gridCol w="6096001">
                  <a:extLst>
                    <a:ext uri="{9D8B030D-6E8A-4147-A177-3AD203B41FA5}">
                      <a16:colId xmlns:a16="http://schemas.microsoft.com/office/drawing/2014/main" val="3451431556"/>
                    </a:ext>
                  </a:extLst>
                </a:gridCol>
              </a:tblGrid>
              <a:tr h="524292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/>
                        <a:t>Новые функции</a:t>
                      </a:r>
                      <a:endParaRPr lang="ru-RU" sz="2000" b="1" dirty="0">
                        <a:latin typeface="Bahnschrift SemiBold SemiConden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/>
                        <a:t>Описание</a:t>
                      </a:r>
                      <a:endParaRPr lang="ru-RU" sz="2000" b="1" dirty="0">
                        <a:latin typeface="Bahnschrift SemiBold SemiConden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043557"/>
                  </a:ext>
                </a:extLst>
              </a:tr>
              <a:tr h="724022">
                <a:tc>
                  <a:txBody>
                    <a:bodyPr/>
                    <a:lstStyle/>
                    <a:p>
                      <a:r>
                        <a:rPr lang="ru-RU" sz="2000" dirty="0"/>
                        <a:t>Система отчетов</a:t>
                      </a:r>
                      <a:endParaRPr lang="ru-RU" sz="2000" dirty="0">
                        <a:latin typeface="Bahnschrift SemiBold SemiConden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4 вида отчетов с выгрузкой их в </a:t>
                      </a:r>
                      <a:r>
                        <a:rPr lang="en-US" sz="2000" dirty="0"/>
                        <a:t>Excel and Word</a:t>
                      </a:r>
                      <a:endParaRPr lang="ru-RU" sz="2000" dirty="0">
                        <a:latin typeface="Bahnschrift SemiBold SemiConden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0644531"/>
                  </a:ext>
                </a:extLst>
              </a:tr>
              <a:tr h="706574">
                <a:tc>
                  <a:txBody>
                    <a:bodyPr/>
                    <a:lstStyle/>
                    <a:p>
                      <a:r>
                        <a:rPr lang="ru-RU" sz="2000" dirty="0"/>
                        <a:t>Админ-панель</a:t>
                      </a:r>
                      <a:endParaRPr lang="ru-RU" sz="2000" dirty="0">
                        <a:latin typeface="Bahnschrift SemiBold SemiConden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Управление пользователями (блокировка)</a:t>
                      </a:r>
                      <a:endParaRPr lang="ru-RU" sz="2000" dirty="0">
                        <a:latin typeface="Bahnschrift SemiBold SemiConden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74654"/>
                  </a:ext>
                </a:extLst>
              </a:tr>
              <a:tr h="955094">
                <a:tc>
                  <a:txBody>
                    <a:bodyPr/>
                    <a:lstStyle/>
                    <a:p>
                      <a:r>
                        <a:rPr lang="ru-RU" sz="2000" dirty="0"/>
                        <a:t>Усиленная авторизация</a:t>
                      </a:r>
                      <a:endParaRPr lang="ru-RU" sz="2000" dirty="0">
                        <a:latin typeface="Bahnschrift SemiBold SemiConden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requireAdmin(), </a:t>
                      </a:r>
                      <a:r>
                        <a:rPr lang="ru-RU" sz="2000" kern="1200" dirty="0">
                          <a:effectLst/>
                        </a:rPr>
                        <a:t> </a:t>
                      </a:r>
                      <a:r>
                        <a:rPr lang="en-US" sz="2000" kern="1200" dirty="0">
                          <a:effectLst/>
                        </a:rPr>
                        <a:t>requireLogin()</a:t>
                      </a:r>
                      <a:endParaRPr lang="ru-RU" sz="2000" dirty="0">
                        <a:latin typeface="Bahnschrift SemiBold SemiConden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9114464"/>
                  </a:ext>
                </a:extLst>
              </a:tr>
              <a:tr h="1621951">
                <a:tc>
                  <a:txBody>
                    <a:bodyPr/>
                    <a:lstStyle/>
                    <a:p>
                      <a:r>
                        <a:rPr lang="ru-RU" sz="2000" dirty="0"/>
                        <a:t>Обновленный дизайн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Новый главный экран, карточки входа\выхода, дизайн просмотра статьи и отчеты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244724"/>
                  </a:ext>
                </a:extLst>
              </a:tr>
            </a:tbl>
          </a:graphicData>
        </a:graphic>
      </p:graphicFrame>
      <p:sp>
        <p:nvSpPr>
          <p:cNvPr id="9" name="Овал 8">
            <a:extLst>
              <a:ext uri="{FF2B5EF4-FFF2-40B4-BE49-F238E27FC236}">
                <a16:creationId xmlns:a16="http://schemas.microsoft.com/office/drawing/2014/main" id="{79B9F1D7-BF1F-D219-012B-A82FE2A87CB0}"/>
              </a:ext>
            </a:extLst>
          </p:cNvPr>
          <p:cNvSpPr/>
          <p:nvPr/>
        </p:nvSpPr>
        <p:spPr>
          <a:xfrm>
            <a:off x="10871200" y="5733143"/>
            <a:ext cx="1320800" cy="112485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DB775-6771-FFD9-1F4C-DBA0A1F6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06EC5-A272-C9C1-9228-B4136818E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6717" y="220719"/>
            <a:ext cx="7031421" cy="2601310"/>
          </a:xfrm>
        </p:spPr>
        <p:txBody>
          <a:bodyPr rtlCol="0" anchor="ctr"/>
          <a:lstStyle/>
          <a:p>
            <a:r>
              <a:rPr lang="en-US" sz="7200" dirty="0">
                <a:latin typeface="Bahnschrift Light" panose="020B0502040204020203" pitchFamily="34" charset="0"/>
              </a:rPr>
              <a:t>Blogger-center</a:t>
            </a:r>
            <a:br>
              <a:rPr lang="en-US" sz="7200" dirty="0">
                <a:latin typeface="Bahnschrift Light" panose="020B0502040204020203" pitchFamily="34" charset="0"/>
              </a:rPr>
            </a:br>
            <a:r>
              <a:rPr lang="ru-RU" sz="1800" b="0" dirty="0"/>
              <a:t>Платформа для ведения тематических блогов</a:t>
            </a:r>
            <a:endParaRPr lang="ru" sz="1800" dirty="0"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C69D7-D0D1-CC40-7EC9-A9E1115E936F}"/>
              </a:ext>
            </a:extLst>
          </p:cNvPr>
          <p:cNvSpPr txBox="1"/>
          <p:nvPr/>
        </p:nvSpPr>
        <p:spPr>
          <a:xfrm>
            <a:off x="4508938" y="3271051"/>
            <a:ext cx="40186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ahnschrift Light" panose="020B0502040204020203" pitchFamily="34" charset="0"/>
              </a:rPr>
              <a:t>Модуль 3: Отчёты, экспорт данных и администрирование</a:t>
            </a:r>
            <a:endParaRPr lang="ru-RU" sz="2800" dirty="0">
              <a:latin typeface="Bahnschrift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D150F8-1943-EAD4-6270-AE60B7375065}"/>
              </a:ext>
            </a:extLst>
          </p:cNvPr>
          <p:cNvSpPr txBox="1"/>
          <p:nvPr/>
        </p:nvSpPr>
        <p:spPr>
          <a:xfrm>
            <a:off x="362606" y="5105068"/>
            <a:ext cx="112070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Выполнил: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Гармонов Родион Андреевич ПИб-242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Ссылка на репозиторий:</a:t>
            </a:r>
          </a:p>
          <a:p>
            <a:r>
              <a:rPr lang="ru-RU" sz="24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r0de0-student/</a:t>
            </a:r>
            <a:r>
              <a:rPr lang="ru-RU" sz="2400" dirty="0" err="1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BloGGer-CenteR</a:t>
            </a:r>
            <a:r>
              <a:rPr lang="ru-RU" sz="24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Веб-приложение для блогов, статей</a:t>
            </a:r>
            <a:endParaRPr lang="ru-RU" sz="2400" dirty="0">
              <a:solidFill>
                <a:schemeClr val="bg2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BE9EC780-4C90-1437-29A8-734D787AB77C}"/>
              </a:ext>
            </a:extLst>
          </p:cNvPr>
          <p:cNvSpPr/>
          <p:nvPr/>
        </p:nvSpPr>
        <p:spPr>
          <a:xfrm>
            <a:off x="10871200" y="5733143"/>
            <a:ext cx="1320800" cy="112485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spc="300" dirty="0">
                <a:latin typeface="Bahnschrift SemiBold SemiConden" panose="020B0502040204020203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164660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FA76D1-3C6D-40BC-A42D-496B6EDE8B8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E99543C-82E8-4821-93BD-5A60BEB423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7B7F6F-2C08-4296-B7AB-C2C3F42192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530</Words>
  <Application>Microsoft Office PowerPoint</Application>
  <PresentationFormat>Широкоэкранный</PresentationFormat>
  <Paragraphs>122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Arial Black</vt:lpstr>
      <vt:lpstr>Bahnschrift Light</vt:lpstr>
      <vt:lpstr>Bahnschrift SemiBold SemiConden</vt:lpstr>
      <vt:lpstr>Calibri</vt:lpstr>
      <vt:lpstr>Times New Roman</vt:lpstr>
      <vt:lpstr>Пользовательская</vt:lpstr>
      <vt:lpstr>Blogger-center Платформа для ведения тематических блогов</vt:lpstr>
      <vt:lpstr>Пользователи и роли</vt:lpstr>
      <vt:lpstr>Форма авторизации страницы входа</vt:lpstr>
      <vt:lpstr>Форма авторизации страницы регистрации</vt:lpstr>
      <vt:lpstr>Хеширование пароля (model/user.php)</vt:lpstr>
      <vt:lpstr>Хеширование пароля (controllers/authcontroller.php)</vt:lpstr>
      <vt:lpstr>Проверка авторизации (config/auth.php)</vt:lpstr>
      <vt:lpstr>Проверка авторизации (controllers/AdminController.php)</vt:lpstr>
      <vt:lpstr>Описание отчётов</vt:lpstr>
      <vt:lpstr>Алгоритм формирования отчётов</vt:lpstr>
      <vt:lpstr>Скриншоты страниц отчётов</vt:lpstr>
      <vt:lpstr>Скриншоты страниц отчётов</vt:lpstr>
      <vt:lpstr>Скриншоты страниц отчётов</vt:lpstr>
      <vt:lpstr>Скриншоты страниц отчётов</vt:lpstr>
      <vt:lpstr>Скриншоты страниц отчётов</vt:lpstr>
      <vt:lpstr>Формирование и выгрузка отчётов (controllers/ReportController.php)</vt:lpstr>
      <vt:lpstr>Формирование и выгрузка отчётов (controllers/ReportController.php)</vt:lpstr>
      <vt:lpstr>Скриншоты выгруженных отчётов</vt:lpstr>
      <vt:lpstr>Распределение обязанностей</vt:lpstr>
      <vt:lpstr>Новая функциональность (отличия от модуля 2)</vt:lpstr>
      <vt:lpstr>Blogger-center Платформа для ведения тематических блогов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Родион Гармонов</cp:lastModifiedBy>
  <cp:revision>1</cp:revision>
  <dcterms:created xsi:type="dcterms:W3CDTF">2023-12-10T16:20:53Z</dcterms:created>
  <dcterms:modified xsi:type="dcterms:W3CDTF">2026-04-23T12:32:36Z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